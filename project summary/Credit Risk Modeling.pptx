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B7FC1D1-C3C5-4C61-A773-CED8F7426338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724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895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019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182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762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623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004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049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41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617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27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6305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716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5531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7069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7B7FC1D1-C3C5-4C61-A773-CED8F7426338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996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7B7FC1D1-C3C5-4C61-A773-CED8F7426338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292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B7FC1D1-C3C5-4C61-A773-CED8F7426338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63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735B4-2BB6-4291-9C3C-A994D1BF54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4101" y="592668"/>
            <a:ext cx="8886512" cy="2370666"/>
          </a:xfrm>
        </p:spPr>
        <p:txBody>
          <a:bodyPr/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Credit Risk Modeling for Low-Key Finance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890028-D4D0-4135-AF3A-689523F13A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3130613"/>
            <a:ext cx="8825658" cy="438087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Automating Credit Risk Assessment Using Machine Learning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2AF5413-678A-435F-B196-7D50E87C39F1}"/>
              </a:ext>
            </a:extLst>
          </p:cNvPr>
          <p:cNvSpPr txBox="1">
            <a:spLocks/>
          </p:cNvSpPr>
          <p:nvPr/>
        </p:nvSpPr>
        <p:spPr bwMode="gray">
          <a:xfrm>
            <a:off x="1094101" y="4608046"/>
            <a:ext cx="8825658" cy="4380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MANAS RANJAN SAHOO</a:t>
            </a:r>
          </a:p>
          <a:p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346CC6-33D0-4BCC-93A0-8BD78A0753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8404" y="736600"/>
            <a:ext cx="2015255" cy="136313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356410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229F7-4643-412D-AC66-1CE17BCA4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Black" panose="020B0A0402010202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5D429-D461-49AE-AB04-F1AEEF58F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Problem Statement: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Automate credit risk assessment to improve loan decision-making and reduce default risks.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2000" b="1" dirty="0"/>
              <a:t>Objective</a:t>
            </a:r>
            <a:r>
              <a:rPr lang="en-US" b="1" dirty="0"/>
              <a:t>:</a:t>
            </a:r>
            <a:endParaRPr lang="en-US" sz="14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Build a predictive model to classify borrowers based on default risk, ensuring high accuracy and business alignment.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885649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C0BB0-AE46-40C7-98B9-C897CF1FD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Black" panose="020B0A04020102020204" pitchFamily="34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DC87E-918B-4F90-84E7-ECF9C0939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Approach: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/>
              <a:t>Data Preparation:</a:t>
            </a:r>
            <a:r>
              <a:rPr lang="en-US" sz="1400" dirty="0"/>
              <a:t> Cleaning and handling imbalanced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/>
              <a:t>Feature Engineering:</a:t>
            </a:r>
            <a:r>
              <a:rPr lang="en-US" sz="1400" dirty="0"/>
              <a:t> Domain-specific and statistical analysis (Weight of Evidence and Information value).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/>
              <a:t>Model Selection:</a:t>
            </a:r>
            <a:r>
              <a:rPr lang="en-US" sz="1400" dirty="0"/>
              <a:t> Evaluated Logistic Regression, Random Forest, and </a:t>
            </a:r>
            <a:r>
              <a:rPr lang="en-US" sz="1400" dirty="0" err="1"/>
              <a:t>XGBoost</a:t>
            </a:r>
            <a:r>
              <a:rPr lang="en-US" sz="1400" dirty="0"/>
              <a:t> (final choice).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/>
              <a:t>Evaluation Metrics:</a:t>
            </a:r>
            <a:r>
              <a:rPr lang="en-US" sz="1400" dirty="0"/>
              <a:t> AUC, Gini Coefficient, and KS Statistic.</a:t>
            </a:r>
          </a:p>
        </p:txBody>
      </p:sp>
    </p:spTree>
    <p:extLst>
      <p:ext uri="{BB962C8B-B14F-4D97-AF65-F5344CB8AC3E}">
        <p14:creationId xmlns:p14="http://schemas.microsoft.com/office/powerpoint/2010/main" val="1790873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0036-FD15-4385-AAD4-C1256410F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Black" panose="020B0A04020102020204" pitchFamily="34" charset="0"/>
              </a:rPr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F3A08-7F64-42A1-BE16-BBEFE964E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Barriers: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Imbalanced dataset (only 10% defaults).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Data quality issues like missing values and outliers.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Computational cost for hyperparameter tuning.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b="1" dirty="0"/>
              <a:t>Solutions: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Used SMOTE for over-sampling and under-sampling techniques.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Applied robust preprocessing pipelines and </a:t>
            </a:r>
            <a:r>
              <a:rPr lang="en-US" sz="1400" dirty="0" err="1"/>
              <a:t>Optuna</a:t>
            </a:r>
            <a:r>
              <a:rPr lang="en-US" sz="1400" dirty="0"/>
              <a:t> for efficient tuning.</a:t>
            </a:r>
          </a:p>
        </p:txBody>
      </p:sp>
    </p:spTree>
    <p:extLst>
      <p:ext uri="{BB962C8B-B14F-4D97-AF65-F5344CB8AC3E}">
        <p14:creationId xmlns:p14="http://schemas.microsoft.com/office/powerpoint/2010/main" val="3024771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64C92-BF59-4715-B5B7-626ED6068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Black" panose="020B0A04020102020204" pitchFamily="34" charset="0"/>
              </a:rPr>
              <a:t>Key Findings and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6890C-C1D5-45FE-A1E0-DC0BE3C63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Insights: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Top predictors: Credit Utilization Ratio, Loan to Income Ratio, and Delinquency Months to Loan Months Ratio.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62094A-BA66-4684-B84A-799A964A09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3429001"/>
            <a:ext cx="3784600" cy="308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341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64C92-BF59-4715-B5B7-626ED6068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Black" panose="020B0A04020102020204" pitchFamily="34" charset="0"/>
              </a:rPr>
              <a:t>Key Findings and Insights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6890C-C1D5-45FE-A1E0-DC0BE3C63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8825659" cy="3856567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Insights: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Achieved exceptional performance with </a:t>
            </a:r>
            <a:r>
              <a:rPr lang="en-US" sz="1400" dirty="0" err="1"/>
              <a:t>XGBoost</a:t>
            </a:r>
            <a:r>
              <a:rPr lang="en-US" sz="1400" dirty="0"/>
              <a:t> Model Under-sampling method using </a:t>
            </a:r>
            <a:r>
              <a:rPr lang="en-US" sz="1400" dirty="0" err="1"/>
              <a:t>Optuna</a:t>
            </a:r>
            <a:r>
              <a:rPr lang="en-US" sz="1400" dirty="0"/>
              <a:t> for parameter tuning (AUC: 0.99, Gini: 0.97, KS: 86.87).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Decile analysis confirmed effective separation of high-risk borrowers.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F3186F-F89B-4A7B-BDD6-80E6137598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466" y="3979334"/>
            <a:ext cx="2929467" cy="24807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D55A68-28B5-45E7-81F4-3454BBEB1F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050" y="3979333"/>
            <a:ext cx="3994150" cy="2292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480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612A5-992C-414F-8ED0-DE1D00306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Black" panose="020B0A04020102020204" pitchFamily="34" charset="0"/>
              </a:rPr>
              <a:t>Recommendations and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07CE4-0BB5-4EF1-BF42-AFBFEF6EE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Actionable Suggestions: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Integrate the model into the loan approval workflow.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Use insights to refine credit policies and risk mitigation strategies.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b="1" dirty="0"/>
              <a:t>Future Steps: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Retrain the model periodically to address data drift.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Explore additional features like macroeconomic indicators.</a:t>
            </a:r>
          </a:p>
        </p:txBody>
      </p:sp>
    </p:spTree>
    <p:extLst>
      <p:ext uri="{BB962C8B-B14F-4D97-AF65-F5344CB8AC3E}">
        <p14:creationId xmlns:p14="http://schemas.microsoft.com/office/powerpoint/2010/main" val="2175958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7D228-D8F9-4CC9-A314-FB57665DE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Black" panose="020B0A040201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3C7AA-266C-496A-9D9D-88E0B9196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Summary: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Developed a robust, interpretable credit risk model with high predictive accuracy.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Provides actionable insights for improving decision-making and managing defaults.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b="1" dirty="0"/>
              <a:t>Call to Action: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Ready for deployment and integration into business processes.</a:t>
            </a:r>
          </a:p>
        </p:txBody>
      </p:sp>
    </p:spTree>
    <p:extLst>
      <p:ext uri="{BB962C8B-B14F-4D97-AF65-F5344CB8AC3E}">
        <p14:creationId xmlns:p14="http://schemas.microsoft.com/office/powerpoint/2010/main" val="3280924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39EA1-3887-4F56-AB40-54D1B63F1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Black" panose="020B0A04020102020204" pitchFamily="34" charset="0"/>
              </a:rPr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60454-6A0F-4164-9B19-A8CC359A9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sz="2000" b="1" dirty="0"/>
          </a:p>
          <a:p>
            <a:pPr marL="0" indent="0" algn="ctr">
              <a:buNone/>
            </a:pPr>
            <a:endParaRPr lang="en-US" sz="2000" b="1" dirty="0"/>
          </a:p>
          <a:p>
            <a:pPr marL="0" indent="0" algn="ctr">
              <a:buNone/>
            </a:pPr>
            <a:r>
              <a:rPr lang="en-US" sz="2000" b="1" dirty="0"/>
              <a:t>Questions &amp; Discussion</a:t>
            </a:r>
          </a:p>
          <a:p>
            <a:pPr marL="0" indent="0" algn="ctr">
              <a:buNone/>
            </a:pPr>
            <a:r>
              <a:rPr lang="en-US" dirty="0"/>
              <a:t>We welcome your feedback and queries!</a:t>
            </a:r>
          </a:p>
        </p:txBody>
      </p:sp>
    </p:spTree>
    <p:extLst>
      <p:ext uri="{BB962C8B-B14F-4D97-AF65-F5344CB8AC3E}">
        <p14:creationId xmlns:p14="http://schemas.microsoft.com/office/powerpoint/2010/main" val="32918408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66</TotalTime>
  <Words>325</Words>
  <Application>Microsoft Office PowerPoint</Application>
  <PresentationFormat>Widescreen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Black</vt:lpstr>
      <vt:lpstr>Century Gothic</vt:lpstr>
      <vt:lpstr>Wingdings</vt:lpstr>
      <vt:lpstr>Wingdings 3</vt:lpstr>
      <vt:lpstr>Ion Boardroom</vt:lpstr>
      <vt:lpstr>Credit Risk Modeling for Low-Key Finance</vt:lpstr>
      <vt:lpstr>Introduction</vt:lpstr>
      <vt:lpstr>Methodology</vt:lpstr>
      <vt:lpstr>Challenges Faced</vt:lpstr>
      <vt:lpstr>Key Findings and Insights</vt:lpstr>
      <vt:lpstr>Key Findings and Insights (Cont.)</vt:lpstr>
      <vt:lpstr>Recommendations and Next Steps</vt:lpstr>
      <vt:lpstr>Conclusion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Risk Modeling for Low-Key Finance</dc:title>
  <dc:creator>Nafiul Araf</dc:creator>
  <cp:lastModifiedBy>Manas Sahoo</cp:lastModifiedBy>
  <cp:revision>10</cp:revision>
  <dcterms:created xsi:type="dcterms:W3CDTF">2024-12-12T16:50:43Z</dcterms:created>
  <dcterms:modified xsi:type="dcterms:W3CDTF">2025-12-23T16:00:12Z</dcterms:modified>
</cp:coreProperties>
</file>